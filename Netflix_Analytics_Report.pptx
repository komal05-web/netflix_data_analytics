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Titles by Genre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9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CB7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45EC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967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34A3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Documentary</c:v>
                  </c:pt>
                  <c:pt idx="1">
                    <c:v>Drama</c:v>
                  </c:pt>
                  <c:pt idx="2">
                    <c:v>Comedy</c:v>
                  </c:pt>
                  <c:pt idx="3">
                    <c:v>Rom-com</c:v>
                  </c:pt>
                  <c:pt idx="4">
                    <c:v>Thriller</c:v>
                  </c:pt>
                  <c:pt idx="5">
                    <c:v>Comedy-drama</c:v>
                  </c:pt>
                  <c:pt idx="6">
                    <c:v>Crime Drama</c:v>
                  </c:pt>
                  <c:pt idx="7">
                    <c:v>Horror</c:v>
                  </c:pt>
                  <c:pt idx="8">
                    <c:v>Biopic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159</c:v>
                </c:pt>
                <c:pt idx="1">
                  <c:v>77</c:v>
                </c:pt>
                <c:pt idx="2">
                  <c:v>49</c:v>
                </c:pt>
                <c:pt idx="3">
                  <c:v>39</c:v>
                </c:pt>
                <c:pt idx="4">
                  <c:v>33</c:v>
                </c:pt>
                <c:pt idx="5">
                  <c:v>14</c:v>
                </c:pt>
                <c:pt idx="6">
                  <c:v>11</c:v>
                </c:pt>
                <c:pt idx="7">
                  <c:v>9</c:v>
                </c:pt>
                <c:pt idx="8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Average IMDb Score by Genre (min. 5 titles)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IMDb Score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C51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967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45EC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D93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BCB7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34A3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Crime Drama</c:v>
                  </c:pt>
                  <c:pt idx="1">
                    <c:v>Biopic</c:v>
                  </c:pt>
                  <c:pt idx="2">
                    <c:v>Drama</c:v>
                  </c:pt>
                  <c:pt idx="3">
                    <c:v>Thriller</c:v>
                  </c:pt>
                  <c:pt idx="4">
                    <c:v>Documentary</c:v>
                  </c:pt>
                  <c:pt idx="5">
                    <c:v>Comedy-drama</c:v>
                  </c:pt>
                  <c:pt idx="6">
                    <c:v>Action</c:v>
                  </c:pt>
                  <c:pt idx="7">
                    <c:v>Comedy</c:v>
                  </c:pt>
                  <c:pt idx="8">
                    <c:v>Horror</c:v>
                  </c:pt>
                  <c:pt idx="9">
                    <c:v>Romantic comedy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7.1</c:v>
                </c:pt>
                <c:pt idx="1">
                  <c:v>6.9</c:v>
                </c:pt>
                <c:pt idx="2">
                  <c:v>6.7</c:v>
                </c:pt>
                <c:pt idx="3">
                  <c:v>6.6</c:v>
                </c:pt>
                <c:pt idx="4">
                  <c:v>6.5</c:v>
                </c:pt>
                <c:pt idx="5">
                  <c:v>6.4</c:v>
                </c:pt>
                <c:pt idx="6">
                  <c:v>6.3</c:v>
                </c:pt>
                <c:pt idx="7">
                  <c:v>6.1</c:v>
                </c:pt>
                <c:pt idx="8">
                  <c:v>5.8</c:v>
                </c:pt>
                <c:pt idx="9">
                  <c:v>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8"/>
          <c:min val="4.5"/>
        </c:scaling>
        <c:delete val="0"/>
        <c:axPos val="b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Titles Added Per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Added</c:v>
                </c:pt>
              </c:strCache>
            </c:strRef>
          </c:tx>
          <c:spPr>
            <a:solidFill>
              <a:srgbClr val="E50914"/>
            </a:solidFill>
            <a:ln w="38100" cap="flat">
              <a:solidFill>
                <a:srgbClr val="E509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0914"/>
              </a:solidFill>
              <a:ln w="9525" cap="flat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18</c:v>
                </c:pt>
                <c:pt idx="3">
                  <c:v>53</c:v>
                </c:pt>
                <c:pt idx="4">
                  <c:v>118</c:v>
                </c:pt>
                <c:pt idx="5">
                  <c:v>174</c:v>
                </c:pt>
                <c:pt idx="6">
                  <c:v>124</c:v>
                </c:pt>
                <c:pt idx="7">
                  <c:v>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Language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Language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F5C518"/>
              </a:solidFill>
              <a:effectLst/>
            </c:spPr>
          </c:dPt>
          <c:dPt>
            <c:idx val="2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bubble3D val="0"/>
            <c:spPr>
              <a:solidFill>
                <a:srgbClr val="6BCB77"/>
              </a:solidFill>
              <a:effectLst/>
            </c:spPr>
          </c:dPt>
          <c:dPt>
            <c:idx val="4"/>
            <c:bubble3D val="0"/>
            <c:spPr>
              <a:solidFill>
                <a:srgbClr val="845EC2"/>
              </a:solidFill>
              <a:effectLst/>
            </c:spPr>
          </c:dPt>
          <c:dPt>
            <c:idx val="5"/>
            <c:bubble3D val="0"/>
            <c:spPr>
              <a:solidFill>
                <a:srgbClr val="55555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English</c:v>
                </c:pt>
                <c:pt idx="1">
                  <c:v>Hindi</c:v>
                </c:pt>
                <c:pt idx="2">
                  <c:v>Spanish</c:v>
                </c:pt>
                <c:pt idx="3">
                  <c:v>French</c:v>
                </c:pt>
                <c:pt idx="4">
                  <c:v>Italian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401</c:v>
                </c:pt>
                <c:pt idx="1">
                  <c:v>32</c:v>
                </c:pt>
                <c:pt idx="2">
                  <c:v>31</c:v>
                </c:pt>
                <c:pt idx="3">
                  <c:v>20</c:v>
                </c:pt>
                <c:pt idx="4">
                  <c:v>14</c:v>
                </c:pt>
                <c:pt idx="5">
                  <c:v>85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DDDDD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IMDb Score Quality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9A7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F5C518"/>
              </a:solidFill>
              <a:effectLst/>
            </c:spPr>
          </c:dPt>
          <c:dPt>
            <c:idx val="3"/>
            <c:bubble3D val="0"/>
            <c:spPr>
              <a:solidFill>
                <a:srgbClr val="FF9671"/>
              </a:solidFill>
              <a:effectLst/>
            </c:spPr>
          </c:dPt>
          <c:dPt>
            <c:idx val="4"/>
            <c:bubble3D val="0"/>
            <c:spPr>
              <a:solidFill>
                <a:srgbClr val="E5091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Excellent (8-10)</c:v>
                </c:pt>
                <c:pt idx="1">
                  <c:v>Good (7-7.9)</c:v>
                </c:pt>
                <c:pt idx="2">
                  <c:v>Average (6-6.9)</c:v>
                </c:pt>
                <c:pt idx="3">
                  <c:v>Below Avg (5-5.9)</c:v>
                </c:pt>
                <c:pt idx="4">
                  <c:v>Poor (&lt;5)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22</c:v>
                </c:pt>
                <c:pt idx="1">
                  <c:v>124</c:v>
                </c:pt>
                <c:pt idx="2">
                  <c:v>233</c:v>
                </c:pt>
                <c:pt idx="3">
                  <c:v>148</c:v>
                </c:pt>
                <c:pt idx="4">
                  <c:v>56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DDDDD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Avg Runtime by Genre (min)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Runtime (min)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9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CB7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45EC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Documentary</c:v>
                  </c:pt>
                  <c:pt idx="1">
                    <c:v>Drama</c:v>
                  </c:pt>
                  <c:pt idx="2">
                    <c:v>Thriller</c:v>
                  </c:pt>
                  <c:pt idx="3">
                    <c:v>Comedy</c:v>
                  </c:pt>
                  <c:pt idx="4">
                    <c:v>Rom-com</c:v>
                  </c:pt>
                  <c:pt idx="5">
                    <c:v>Comedy-drama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</c:v>
                </c:pt>
                <c:pt idx="1">
                  <c:v>100</c:v>
                </c:pt>
                <c:pt idx="2">
                  <c:v>102</c:v>
                </c:pt>
                <c:pt idx="3">
                  <c:v>90</c:v>
                </c:pt>
                <c:pt idx="4">
                  <c:v>90</c:v>
                </c:pt>
                <c:pt idx="5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0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DDD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1E1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731520"/>
            <a:ext cx="2377440" cy="3474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640080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291840" y="1188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8288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Analytics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91840" y="3520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•  Insights  •  Solutions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4160520"/>
            <a:ext cx="123444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91840" y="459028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81728" y="4160520"/>
            <a:ext cx="123444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81728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81728" y="459028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71616" y="4160520"/>
            <a:ext cx="123444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71616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2014–21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71616" y="459028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61504" y="4160520"/>
            <a:ext cx="123444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61504" y="4160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6.28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61504" y="459028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IMDb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Data Analytics Portfolio Project  |  Python · Pandas · Matplotlib · Seaborn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Report Covers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00" cy="56692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56692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80136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Netflix content strategy and catalog management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8229600" cy="56692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67128"/>
            <a:ext cx="54864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671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45973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discoveries from 583 titles across genres &amp; languages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25496"/>
            <a:ext cx="8229600" cy="56692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825496"/>
            <a:ext cx="54864" cy="5669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2549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871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11810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dominate and which underperform on IMDb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8229600" cy="56692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483864"/>
            <a:ext cx="54864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838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529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Trends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77647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growth and language distribution patterns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42232"/>
            <a:ext cx="8229600" cy="56692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142232"/>
            <a:ext cx="54864" cy="566928"/>
          </a:xfrm>
          <a:prstGeom prst="rect">
            <a:avLst/>
          </a:prstGeom>
          <a:solidFill>
            <a:srgbClr val="FF9671"/>
          </a:solidFill>
          <a:ln w="12700">
            <a:solidFill>
              <a:srgbClr val="FF96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14223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6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4187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Solutions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43484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to optimize the Netflix catalog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Challenges Does Netflix Face?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06908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406908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5819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Imbalance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titles make up 27% of catalog (159/583) while Action, Sci-Fi, and Animation remain critically under-represented.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06908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17320"/>
            <a:ext cx="40690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819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5819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Concentration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965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of all content is in English, leaving massive multilingual audiences in India, Latin America, and Asia underserved.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406908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926080"/>
            <a:ext cx="4069080" cy="54864"/>
          </a:xfrm>
          <a:prstGeom prst="rect">
            <a:avLst/>
          </a:prstGeom>
          <a:solidFill>
            <a:srgbClr val="FF9671"/>
          </a:solidFill>
          <a:ln w="12700">
            <a:solidFill>
              <a:srgbClr val="FF96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90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090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Inconsistency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titles score below 6.0 on IMDb. Poor-quality content risks subscriber churn and brand dilution.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406908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926080"/>
            <a:ext cx="40690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906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0" y="3090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Stagnant Growth Post-2020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4747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additions plateaued after 2019 peak — a gap between subscriber growth and fresh, diverse content supply.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gaps directly impact subscriber retention, global expansion, and content ROI.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At-a-Glance Data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298448" cy="1280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1298448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(2014–2021)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9384" y="1325880"/>
            <a:ext cx="1298448" cy="1280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29384" y="1325880"/>
            <a:ext cx="1298448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9384" y="14173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9384" y="2011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IMDb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55848" y="1325880"/>
            <a:ext cx="1298448" cy="1280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1325880"/>
            <a:ext cx="129844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4173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55848" y="2011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Share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Catalog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82312" y="1325880"/>
            <a:ext cx="1298448" cy="1280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82312" y="1325880"/>
            <a:ext cx="1298448" cy="64008"/>
          </a:xfrm>
          <a:prstGeom prst="rect">
            <a:avLst/>
          </a:prstGeom>
          <a:solidFill>
            <a:srgbClr val="FF9671"/>
          </a:solidFill>
          <a:ln w="12700">
            <a:solidFill>
              <a:srgbClr val="FF96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14173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6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82312" y="2011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08776" y="1325880"/>
            <a:ext cx="1298448" cy="1280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08776" y="1325880"/>
            <a:ext cx="129844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14173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 min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08776" y="2011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Runtime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35240" y="1325880"/>
            <a:ext cx="1298448" cy="128016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1325880"/>
            <a:ext cx="1298448" cy="6400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4173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5E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14+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35240" y="20116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9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02920" y="2788920"/>
          <a:ext cx="83210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QUALITY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Genres Score Best on IMDb?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32588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325880"/>
            <a:ext cx="2697480" cy="7589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1325880"/>
            <a:ext cx="54864" cy="7589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Top Performer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63640" y="16184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Drama leads at 7.1 avg — quality niche content with strong audience loyalty.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26480" y="2176272"/>
            <a:ext cx="2697480" cy="7589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26480" y="2176272"/>
            <a:ext cx="54864" cy="7589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22402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Risk Zone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6364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 Comedy scores just 5.6 — the largest investment with weakest returns.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3026664"/>
            <a:ext cx="2697480" cy="7589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3026664"/>
            <a:ext cx="54864" cy="75895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30906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The Sweet Spot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3319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(7.0) + Thriller (6.6) offer best quality-to-volume balance for subscribers.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26480" y="3877056"/>
            <a:ext cx="2697480" cy="758952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3877056"/>
            <a:ext cx="54864" cy="7589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39410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Opportunity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63640" y="41696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 (9 titles, 5.8 avg) — low supply with room for high-quality originals.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IMDb score across all titles: 6.28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TRENDS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Growth, Language &amp; Timing Patterns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325880"/>
          <a:ext cx="5394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126480" y="1325880"/>
          <a:ext cx="2697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3977640"/>
            <a:ext cx="2697480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02920" y="3977640"/>
            <a:ext cx="269748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40690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Peak Year 2019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0080" y="43342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titles added — highest in 8 years. Aggressive expansion phase.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383280" y="3977640"/>
            <a:ext cx="2697480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83280" y="3977640"/>
            <a:ext cx="2697480" cy="64008"/>
          </a:xfrm>
          <a:prstGeom prst="rect">
            <a:avLst/>
          </a:prstGeom>
          <a:solidFill>
            <a:srgbClr val="FF9671"/>
          </a:solidFill>
          <a:ln w="12700">
            <a:solidFill>
              <a:srgbClr val="FF967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20440" y="40690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2020 Drop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20440" y="43342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slowed production to 124 titles despite record subscribers.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63640" y="3977640"/>
            <a:ext cx="2697480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3977640"/>
            <a:ext cx="26974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0" y="40690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Non-English Gap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00800" y="43342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31% non-English content despite 60%+ of users being non-English.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45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IMDb Score Quality &amp; Runtime Analysis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28016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846320" y="1280160"/>
          <a:ext cx="39776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846320" y="3291840"/>
            <a:ext cx="91440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846320" y="3291840"/>
            <a:ext cx="9144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846320" y="34015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846320" y="38587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(IMDb 8–10)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852160" y="3291840"/>
            <a:ext cx="91440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52160" y="3291840"/>
            <a:ext cx="914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52160" y="34015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21.3%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852160" y="38587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(IMDb 7–7.9)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858000" y="3291840"/>
            <a:ext cx="91440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0" y="3291840"/>
            <a:ext cx="91440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0" y="34015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40.0%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858000" y="38587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(IMDb 6–6.9)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863840" y="3291840"/>
            <a:ext cx="91440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863840" y="3291840"/>
            <a:ext cx="9144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63840" y="34015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34.9%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863840" y="38587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Poor/Below Avg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(&lt;6.0)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4343400"/>
            <a:ext cx="8321040" cy="50292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34.9% of all Netflix titles score below 6.0 — a significant quality risk for brand perception.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SOLUTIONS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40690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4069080" cy="6400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463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Diversify Genre Portfolio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18013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80160" y="180136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overload (27%) vs. under-served Action &amp; Sci-Fi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2648" y="202082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88720" y="20208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Documentary at 20% of new acquisitions. Invest in Sci-Fi, Animation &amp; Action originals (target: 15% each by 2025).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" y="2624328"/>
            <a:ext cx="3749040" cy="20116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3347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Impact: Attract younger 18–35 demographics, reduce churn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325880"/>
            <a:ext cx="40690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25880"/>
            <a:ext cx="40690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463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9240" y="1444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Accelerate Local Language Content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18013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23560" y="180136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English content vs. 60%+ non-English subscriber base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56048" y="202082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32120" y="202082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non-English productions. Priority: Hindi, Spanish, Korean. Invest in dubbing/subtitling for cross-market appeal.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56048" y="2624328"/>
            <a:ext cx="3749040" cy="20116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633472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Impact: Tap $4B+ emerging market opportunity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081528"/>
            <a:ext cx="40690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081528"/>
            <a:ext cx="406908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218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200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Implement Quality Threshold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280160" y="355701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titles score below 6.0 — eroding brand trust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" y="377647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88720" y="37764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minimum 6.5 IMDb acquisition threshold. Create internal pre-release audience testing to predict quality scores.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" y="4379976"/>
            <a:ext cx="3749040" cy="20116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38912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Impact: Increase avg catalog score from 6.28 → 7.0+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081528"/>
            <a:ext cx="40690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081528"/>
            <a:ext cx="4069080" cy="64008"/>
          </a:xfrm>
          <a:prstGeom prst="rect">
            <a:avLst/>
          </a:prstGeom>
          <a:solidFill>
            <a:srgbClr val="FF9671"/>
          </a:solidFill>
          <a:ln w="12700">
            <a:solidFill>
              <a:srgbClr val="FF96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218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6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200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Stabilize Content Release Cadence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56048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23560" y="355701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Post-2019 drop from 174 to 88 titles/year creates subscriber drought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56048" y="377647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7764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120–150 new titles/year minimum. Build a 12-month content pipeline to survive production disruptions.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56048" y="4379976"/>
            <a:ext cx="3749040" cy="20116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438912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Impact: Reduce subscriber cancellations during gaps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Data Into Decisions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32104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of 583 Netflix titles (2014–2021) reveals that while Netflix has built an impressive content library, it faces critical strategic gaps: genre concentration in low-ROI Documentaries, heavy English-language bias, and a quality floor that risks subscriber trust. The data points to a clear roadmap for catalog optimization.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41148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606040"/>
            <a:ext cx="781812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67004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diversification is the #1 lever to attract new demographics and reduce churn risk.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46120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46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3246120"/>
            <a:ext cx="781812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31012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content is the biggest growth opportunity, especially Hindi, Spanish &amp; Korean.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886200"/>
            <a:ext cx="411480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862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05840" y="3886200"/>
            <a:ext cx="781812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95020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quality threshold policy (min 6.5 IMDb) can elevate Netflix's brand from quantity to excellence.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Python  ·  Pandas  ·  Matplotlib  ·  Seaborn  ·  NumPy   |   Dataset: Netflix Movies &amp; Shows (Kaggle)   |   Portfolio: Data Analyst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Analytics Report</dc:title>
  <dc:subject>PptxGenJS Presentation</dc:subject>
  <dc:creator>PptxGenJS</dc:creator>
  <cp:lastModifiedBy>PptxGenJS</cp:lastModifiedBy>
  <cp:revision>1</cp:revision>
  <dcterms:created xsi:type="dcterms:W3CDTF">2026-05-24T10:58:37Z</dcterms:created>
  <dcterms:modified xsi:type="dcterms:W3CDTF">2026-05-24T10:58:37Z</dcterms:modified>
</cp:coreProperties>
</file>